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62" r:id="rId8"/>
    <p:sldId id="264"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75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98003139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wrap="square">
            <a:normAutofit/>
          </a:bodyPr>
          <a:lstStyle/>
          <a:p>
            <a:pPr algn="ctr"/>
            <a:r>
              <a:rPr lang="en-US" sz="528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wrap="square">
            <a:normAutofit/>
          </a:bodyPr>
          <a:lstStyle/>
          <a:p>
            <a:pPr algn="ctr"/>
            <a:r>
              <a:rPr lang="en-US" b="1" i="1"/>
              <a:t>“Exploring the Power of Agentic AI with IBM Granite and </a:t>
            </a:r>
            <a:r>
              <a:rPr lang="en-US" b="1" i="1" err="1"/>
              <a:t>FastAPI</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rm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0118303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dirty="0" err="1" smtClean="0"/>
                        <a:t>Anirudh</a:t>
                      </a:r>
                      <a:r>
                        <a:rPr lang="en-US" dirty="0" smtClean="0"/>
                        <a:t> </a:t>
                      </a:r>
                      <a:r>
                        <a:rPr lang="en-US" dirty="0" err="1" smtClean="0"/>
                        <a:t>Verma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techmax1245@gmail.com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9016703180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pic>
        <p:nvPicPr>
          <p:cNvPr id="98" name="Google Shape;98;p2"/>
          <p:cNvPicPr preferRelativeResize="0"/>
          <p:nvPr/>
        </p:nvPicPr>
        <p:blipFill rotWithShape="1">
          <a:blip r:embed="rId3">
            <a:extLst>
              <a:ext uri="{28A0092B-C50C-407E-A947-70E740481C1C}">
                <a14:useLocalDpi xmlns:a14="http://schemas.microsoft.com/office/drawing/2010/main" val="0"/>
              </a:ext>
            </a:extLst>
          </a:blip>
          <a:srcRect t="10115" r="14426" b="34051"/>
          <a:stretch/>
        </p:blipFill>
        <p:spPr>
          <a:xfrm>
            <a:off x="4038600" y="3643525"/>
            <a:ext cx="1124205" cy="981075"/>
          </a:xfrm>
          <a:prstGeom prst="rect">
            <a:avLst/>
          </a:prstGeom>
          <a:noFill/>
          <a:ln>
            <a:noFill/>
          </a:ln>
        </p:spPr>
      </p:pic>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normAutofit/>
          </a:bodyPr>
          <a:lstStyle/>
          <a:p>
            <a:r>
              <a:rPr lang="en-US" sz="1920" b="1" dirty="0"/>
              <a:t>Domain of  Project – </a:t>
            </a:r>
            <a:r>
              <a:rPr lang="en-US" sz="1920" b="1" dirty="0" smtClean="0"/>
              <a:t>Cyber Security and Privacy.</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normAutofit/>
          </a:bodyPr>
          <a:lstStyle/>
          <a:p>
            <a:r>
              <a:rPr lang="en-US" sz="1920" b="1"/>
              <a:t>Project Tile – </a:t>
            </a:r>
            <a:r>
              <a:rPr lang="en-US" sz="1920" b="1">
                <a:highlight>
                  <a:srgbClr val="FFFF00"/>
                </a:highlight>
              </a:rPr>
              <a:t>[</a:t>
            </a:r>
            <a:r>
              <a:rPr lang="en-US" sz="1920" b="1">
                <a:solidFill>
                  <a:srgbClr val="002060"/>
                </a:solidFill>
                <a:highlight>
                  <a:srgbClr val="FFFF00"/>
                </a:highlight>
                <a:latin typeface="Times New Roman"/>
                <a:ea typeface="Times New Roman"/>
                <a:cs typeface="Times New Roman"/>
                <a:sym typeface="Times New Roman"/>
              </a:rPr>
              <a:t>ScamShield - AI + Blockchain Scam Protection</a:t>
            </a:r>
            <a:r>
              <a:rPr lang="en-US" sz="1920" b="1">
                <a:highlight>
                  <a:srgbClr val="FFFF00"/>
                </a:highlight>
              </a:rPr>
              <a:t>]</a:t>
            </a:r>
            <a:endParaRPr lang="en-IN" sz="2400" b="1">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normAutofit/>
          </a:bodyPr>
          <a:lstStyle/>
          <a:p>
            <a:pPr fontAlgn="base"/>
            <a:r>
              <a:rPr lang="en-US" b="1"/>
              <a:t>Problem Statement : ScamShield</a:t>
            </a:r>
            <a:r>
              <a:rPr lang="en-US"/>
              <a:t> </a:t>
            </a:r>
          </a:p>
          <a:p>
            <a:pPr fontAlgn="base"/>
            <a:endParaRPr lang="en-US" b="1"/>
          </a:p>
          <a:p>
            <a:pPr fontAlgn="base"/>
            <a:r>
              <a:rPr lang="en-US" b="1"/>
              <a:t>The Challenge</a:t>
            </a:r>
            <a:r>
              <a:rPr lang="en-US"/>
              <a:t> </a:t>
            </a:r>
          </a:p>
          <a:p>
            <a:pPr fontAlgn="base"/>
            <a:r>
              <a:rPr lang="en-US"/>
              <a:t>Users are increasingly targeted by sophisticated phishing, but often struggle with </a:t>
            </a:r>
            <a:r>
              <a:rPr lang="en-US" b="1"/>
              <a:t>identifying OTP scams, and detecting fraudulent links on mobile</a:t>
            </a:r>
            <a:r>
              <a:rPr lang="en-US"/>
              <a:t>. Information about current scams is scattered. Without </a:t>
            </a:r>
            <a:r>
              <a:rPr lang="en-US" b="1"/>
              <a:t>personalized, real-time threat detection</a:t>
            </a:r>
            <a:r>
              <a:rPr lang="en-US"/>
              <a:t>, many fall victim to fraudulent schemes.</a:t>
            </a:r>
          </a:p>
          <a:p>
            <a:pPr fontAlgn="base"/>
            <a:endParaRPr lang="en-US"/>
          </a:p>
          <a:p>
            <a:pPr fontAlgn="base"/>
            <a:r>
              <a:rPr lang="en-US" b="1"/>
              <a:t>The Objective</a:t>
            </a:r>
            <a:r>
              <a:rPr lang="en-US"/>
              <a:t> </a:t>
            </a:r>
          </a:p>
          <a:p>
            <a:pPr fontAlgn="base"/>
            <a:r>
              <a:rPr lang="en-US"/>
              <a:t>Build an </a:t>
            </a:r>
            <a:r>
              <a:rPr lang="en-US" b="1"/>
              <a:t>AI-powered Scam Protection Agent</a:t>
            </a:r>
            <a:r>
              <a:rPr lang="en-US"/>
              <a:t> that delivers </a:t>
            </a:r>
            <a:r>
              <a:rPr lang="en-US" b="1"/>
              <a:t>real-time risk analysis for individuals</a:t>
            </a:r>
            <a:r>
              <a:rPr lang="en-US"/>
              <a:t> The solution should:</a:t>
            </a:r>
          </a:p>
          <a:p>
            <a:pPr marL="285750" indent="-285750" fontAlgn="base">
              <a:buFont typeface="Arial" panose="020B0604020202020204" pitchFamily="34" charset="0"/>
              <a:buChar char="•"/>
            </a:pPr>
            <a:r>
              <a:rPr lang="en-US" b="1"/>
              <a:t>Real-time Text Analysis</a:t>
            </a:r>
            <a:r>
              <a:rPr lang="en-US"/>
              <a:t> – Analyze screen text via OCR for OTP scams and fraudulent intent. </a:t>
            </a:r>
          </a:p>
          <a:p>
            <a:pPr marL="285750" indent="-285750" fontAlgn="base">
              <a:buFont typeface="Arial" panose="020B0604020202020204" pitchFamily="34" charset="0"/>
              <a:buChar char="•"/>
            </a:pPr>
            <a:r>
              <a:rPr lang="en-US" b="1"/>
              <a:t>URL Risk Detection</a:t>
            </a:r>
            <a:r>
              <a:rPr lang="en-US"/>
              <a:t> – Evaluate links using Safe Browsing and AI spoof-domain judgment. </a:t>
            </a:r>
          </a:p>
          <a:p>
            <a:pPr marL="285750" indent="-285750" fontAlgn="base">
              <a:buFont typeface="Arial" panose="020B0604020202020204" pitchFamily="34" charset="0"/>
              <a:buChar char="•"/>
            </a:pPr>
            <a:r>
              <a:rPr lang="en-US" b="1"/>
              <a:t>Blockchain Ledger</a:t>
            </a:r>
            <a:r>
              <a:rPr lang="en-US"/>
              <a:t> – Report and verify known scam numbers/URLs securely via a blockchain ledger. </a:t>
            </a:r>
          </a:p>
          <a:p>
            <a:pPr marL="285750" indent="-285750" fontAlgn="base">
              <a:buFont typeface="Arial" panose="020B0604020202020204" pitchFamily="34" charset="0"/>
              <a:buChar char="•"/>
            </a:pPr>
            <a:r>
              <a:rPr lang="en-US" b="1"/>
              <a:t>Privacy-First Execution</a:t>
            </a:r>
            <a:r>
              <a:rPr lang="en-US"/>
              <a:t> Perform OCR on-device so sensitive screenshots never leave the phone.</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Scam Text Agent</a:t>
            </a:r>
            <a:r>
              <a:rPr lang="en-US"/>
              <a:t> (analyzes text intent) </a:t>
            </a:r>
          </a:p>
          <a:p>
            <a:pPr marL="285750" indent="-285750" fontAlgn="base">
              <a:buFont typeface="Arial" panose="020B0604020202020204" pitchFamily="34" charset="0"/>
              <a:buChar char="•"/>
            </a:pPr>
            <a:r>
              <a:rPr lang="en-US" b="1"/>
              <a:t>URL Risk Agent</a:t>
            </a:r>
            <a:r>
              <a:rPr lang="en-US"/>
              <a:t> (checks for malicious links) </a:t>
            </a:r>
          </a:p>
          <a:p>
            <a:pPr marL="285750" indent="-285750" fontAlgn="base">
              <a:buFont typeface="Arial" panose="020B0604020202020204" pitchFamily="34" charset="0"/>
              <a:buChar char="•"/>
            </a:pPr>
            <a:r>
              <a:rPr lang="en-US" b="1"/>
              <a:t>Ledger Agent</a:t>
            </a:r>
            <a:r>
              <a:rPr lang="en-US"/>
              <a:t> (interfaces with scam registry) </a:t>
            </a:r>
          </a:p>
          <a:p>
            <a:pPr marL="285750" indent="-285750" fontAlgn="base">
              <a:buFont typeface="Arial" panose="020B0604020202020204" pitchFamily="34" charset="0"/>
              <a:buChar char="•"/>
            </a:pPr>
            <a:r>
              <a:rPr lang="en-US" b="1"/>
              <a:t>Orchestrator Agent</a:t>
            </a:r>
            <a:r>
              <a:rPr lang="en-US"/>
              <a:t> (coordinates parallel analysis) </a:t>
            </a:r>
          </a:p>
          <a:p>
            <a:pPr marL="285750" indent="-285750" fontAlgn="base">
              <a:buFont typeface="Arial" panose="020B0604020202020204" pitchFamily="34" charset="0"/>
              <a:buChar char="•"/>
            </a:pPr>
            <a:r>
              <a:rPr lang="en-US" b="1"/>
              <a:t>User Interface</a:t>
            </a:r>
            <a:r>
              <a:rPr lang="en-US"/>
              <a:t> – Provide on-demand floating widget overlay and Chrome extension alerts. </a:t>
            </a:r>
          </a:p>
          <a:p>
            <a:pPr fontAlgn="base"/>
            <a:endParaRPr lang="en-US"/>
          </a:p>
          <a:p>
            <a:endParaRPr lang="en-IN"/>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normAutofit/>
          </a:bodyPr>
          <a:lstStyle/>
          <a:p>
            <a:r>
              <a:rPr lang="en-US" sz="192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normAutofit/>
          </a:bodyPr>
          <a:lstStyle/>
          <a:p>
            <a:pPr fontAlgn="base"/>
            <a:endParaRPr lang="en-US" b="1"/>
          </a:p>
          <a:p>
            <a:r>
              <a:rPr lang="en-US" b="1"/>
              <a:t>Proposed Solution: ScamShield</a:t>
            </a:r>
          </a:p>
          <a:p>
            <a:r>
              <a:rPr lang="en-US"/>
              <a:t>The proposed solution is a </a:t>
            </a:r>
            <a:r>
              <a:rPr lang="en-US" b="1"/>
              <a:t>multi-agent AI-powered scam protection system</a:t>
            </a:r>
            <a:r>
              <a:rPr lang="en-US"/>
              <a:t> built using </a:t>
            </a:r>
            <a:r>
              <a:rPr lang="en-US" b="1" err="1"/>
              <a:t>FastAPI</a:t>
            </a:r>
            <a:r>
              <a:rPr lang="en-US" b="1"/>
              <a:t>, IBM watsonx.ai, and Granite Models</a:t>
            </a:r>
            <a:r>
              <a:rPr lang="en-US"/>
              <a:t> to provide real-time risk analysis. The system addresses challenges in scam detection and reporting through an intelligent, modular architecture.</a:t>
            </a:r>
          </a:p>
          <a:p>
            <a:r>
              <a:rPr lang="en-US"/>
              <a:t>At its core, the solution uses a </a:t>
            </a:r>
            <a:r>
              <a:rPr lang="en-US" b="1"/>
              <a:t>parallel agent orchestration</a:t>
            </a:r>
            <a:r>
              <a:rPr lang="en-US"/>
              <a:t> pipeline to analyze screen text and URLs. This data is processed securely, enabling the system to detect and flag fraudulent intent using Granite models.</a:t>
            </a:r>
          </a:p>
          <a:p>
            <a:r>
              <a:rPr lang="en-US"/>
              <a:t>The system consists of four key agents:</a:t>
            </a:r>
          </a:p>
          <a:p>
            <a:r>
              <a:rPr lang="en-US" b="1"/>
              <a:t>Scam Text Agent</a:t>
            </a:r>
            <a:r>
              <a:rPr lang="en-US"/>
              <a:t> analyzes text for phishing or OTP fraud intent. </a:t>
            </a:r>
          </a:p>
          <a:p>
            <a:r>
              <a:rPr lang="en-US" b="1"/>
              <a:t>URL Risk Agent</a:t>
            </a:r>
            <a:r>
              <a:rPr lang="en-US"/>
              <a:t> checks links against Safe Browsing and Granite spoof-judgment. </a:t>
            </a:r>
          </a:p>
          <a:p>
            <a:r>
              <a:rPr lang="en-US" b="1"/>
              <a:t>Ledger Agent</a:t>
            </a:r>
            <a:r>
              <a:rPr lang="en-US"/>
              <a:t> handles secure reporting and verification of malicious entities. </a:t>
            </a:r>
          </a:p>
          <a:p>
            <a:r>
              <a:rPr lang="en-US" b="1"/>
              <a:t>Orchestrator Agent</a:t>
            </a:r>
            <a:r>
              <a:rPr lang="en-US"/>
              <a:t> coordinates fan-out requests and aggregates risk scores. </a:t>
            </a:r>
          </a:p>
          <a:p>
            <a:r>
              <a:rPr lang="en-US"/>
              <a:t>The solution includes a </a:t>
            </a:r>
            <a:r>
              <a:rPr lang="en-US" b="1"/>
              <a:t>user-friendly Android floating widget</a:t>
            </a:r>
            <a:r>
              <a:rPr lang="en-US"/>
              <a:t> (built with </a:t>
            </a:r>
            <a:r>
              <a:rPr lang="en-US" err="1"/>
              <a:t>Kotlin</a:t>
            </a:r>
            <a:r>
              <a:rPr lang="en-US"/>
              <a:t> and Manifest V3) that visualizes risk levels and highlights malicious links.</a:t>
            </a:r>
          </a:p>
          <a:p>
            <a:r>
              <a:rPr lang="en-US" err="1"/>
              <a:t>FastAPI</a:t>
            </a:r>
            <a:r>
              <a:rPr lang="en-US"/>
              <a:t> is used to orchestrate workflows, while watsonx.ai ensures scalable model deployment. Granite models power reasoning and spoof-domain judgment.</a:t>
            </a:r>
          </a:p>
          <a:p>
            <a:r>
              <a:rPr lang="en-US"/>
              <a:t>Overall, this solution delivers an </a:t>
            </a:r>
            <a:r>
              <a:rPr lang="en-US" b="1"/>
              <a:t>end-to-end intelligent scam protection assistant</a:t>
            </a:r>
            <a:r>
              <a:rPr lang="en-US"/>
              <a:t> that promotes digital safety through real-time feedback and preventive alerts.</a:t>
            </a:r>
          </a:p>
          <a:p>
            <a:pPr fontAlgn="base"/>
            <a:endParaRPr lang="en-US"/>
          </a:p>
          <a:p>
            <a:endParaRPr lang="en-IN"/>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normAutofit/>
          </a:bodyPr>
          <a:lstStyle/>
          <a:p>
            <a:r>
              <a:rPr lang="en-US" sz="192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normAutofit/>
          </a:bodyPr>
          <a:lstStyle/>
          <a:p>
            <a:r>
              <a:rPr lang="en-US" sz="192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normAutofit/>
          </a:bodyPr>
          <a:lstStyle/>
          <a:p>
            <a:pPr marL="285750" indent="-285750">
              <a:buFont typeface="Arial" panose="020B0604020202020204" pitchFamily="34" charset="0"/>
              <a:buChar char="•"/>
            </a:pPr>
            <a:r>
              <a:rPr lang="en-US" sz="1440" b="1" dirty="0" err="1"/>
              <a:t>Langflow</a:t>
            </a:r>
            <a:r>
              <a:rPr lang="en-US" sz="1440" b="1" dirty="0"/>
              <a:t> platform </a:t>
            </a:r>
            <a:r>
              <a:rPr lang="en-US" sz="1440" dirty="0"/>
              <a:t>- For designing and orchestrating high-performance API endpoints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440" b="1" dirty="0"/>
              <a:t>IBM Granite model </a:t>
            </a:r>
            <a:r>
              <a:rPr lang="en-US" sz="1440" dirty="0"/>
              <a:t>-  for </a:t>
            </a:r>
            <a:r>
              <a:rPr lang="en-US" sz="1440" dirty="0" err="1"/>
              <a:t>eg</a:t>
            </a:r>
            <a:r>
              <a:rPr lang="en-US" sz="1440" dirty="0"/>
              <a:t> - ibm/granite-4-h-small - For natural language understanding and spoof-domain judgment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440" b="1"/>
              <a:t>IBM Cloud </a:t>
            </a:r>
            <a:r>
              <a:rPr lang="en-US" sz="1440"/>
              <a:t>- It provides the infrastructure to build, deploy, and scale ScamShield efficiently. IBM Cloud enables a </a:t>
            </a:r>
            <a:r>
              <a:rPr lang="en-US" sz="1440" b="1"/>
              <a:t>reliable, secure, and scalable environment</a:t>
            </a:r>
            <a:r>
              <a:rPr lang="en-US" sz="1440"/>
              <a:t> for deploying ScamShield.</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440" b="1"/>
              <a:t>Blockchain / Ledger - </a:t>
            </a:r>
            <a:r>
              <a:rPr lang="en-US" sz="1440"/>
              <a:t>Hash-chained fallback or Fabric ledger to </a:t>
            </a:r>
            <a:r>
              <a:rPr lang="en-US" sz="1440" b="1"/>
              <a:t>store and verify reports</a:t>
            </a:r>
            <a:r>
              <a:rPr lang="en-US" sz="1440"/>
              <a:t>, making ScamShield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440" b="1"/>
              <a:t>IBM Watsonx.ai - </a:t>
            </a:r>
            <a:r>
              <a:rPr lang="en-US" sz="144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440" b="1"/>
              <a:t>SQLite / Hyperledger Fabric </a:t>
            </a:r>
            <a:r>
              <a:rPr lang="en-IN" sz="1440"/>
              <a:t>– For decentralized and tamper-evident scam registry storage</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051D3A"/>
              </a:buClr>
              <a:buSzPts val="3500"/>
              <a:buFont typeface="Times New Roman"/>
              <a:buNone/>
            </a:pPr>
            <a:r>
              <a:rPr lang="en-US" sz="1920" b="1" err="1">
                <a:sym typeface="Times New Roman"/>
              </a:rPr>
              <a:t>Langflow</a:t>
            </a:r>
            <a:r>
              <a:rPr lang="en-US" sz="2800" b="1" i="0" u="none" strike="noStrike" cap="none">
                <a:solidFill>
                  <a:srgbClr val="051D3A"/>
                </a:solidFill>
                <a:latin typeface="Times New Roman"/>
                <a:ea typeface="Times New Roman"/>
                <a:cs typeface="Times New Roman"/>
                <a:sym typeface="Times New Roman"/>
              </a:rPr>
              <a:t> </a:t>
            </a:r>
            <a:r>
              <a:rPr lang="en-US" sz="1920" b="1">
                <a:sym typeface="Times New Roman"/>
              </a:rPr>
              <a:t>component Used -</a:t>
            </a:r>
            <a:endParaRPr sz="2400" b="1">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rm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rm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rm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rm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rm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rm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3970318"/>
          </a:xfrm>
          <a:prstGeom prst="rect">
            <a:avLst/>
          </a:prstGeom>
          <a:noFill/>
        </p:spPr>
        <p:txBody>
          <a:bodyPr wrap="square" rtlCol="0">
            <a:normAutofit/>
          </a:bodyPr>
          <a:lstStyle/>
          <a:p>
            <a:endParaRPr lang="en-US" dirty="0"/>
          </a:p>
          <a:p>
            <a:r>
              <a:rPr lang="en-US" b="1" dirty="0"/>
              <a:t>1) Chat Input </a:t>
            </a:r>
            <a:r>
              <a:rPr lang="en-US" dirty="0"/>
              <a:t>– Interface where users trigger on-screen text scans or links are auto-scanned.</a:t>
            </a:r>
          </a:p>
          <a:p>
            <a:endParaRPr lang="en-US" dirty="0"/>
          </a:p>
          <a:p>
            <a:r>
              <a:rPr lang="en-US" b="1" dirty="0"/>
              <a:t>2) IBM </a:t>
            </a:r>
            <a:r>
              <a:rPr lang="en-US" b="1" dirty="0" err="1"/>
              <a:t>watsonx</a:t>
            </a:r>
            <a:r>
              <a:rPr lang="en-US" b="1" dirty="0"/>
              <a:t> AI Agent </a:t>
            </a:r>
            <a:r>
              <a:rPr lang="en-US" dirty="0"/>
              <a:t>- Processes OCR text and URLs using Granite models to detect fraudulent intent. </a:t>
            </a:r>
          </a:p>
          <a:p>
            <a:endParaRPr lang="en-US" dirty="0"/>
          </a:p>
          <a:p>
            <a:r>
              <a:rPr lang="en-US" b="1" dirty="0"/>
              <a:t>3) Name of IBM Granite model - </a:t>
            </a:r>
            <a:r>
              <a:rPr lang="en-US" dirty="0" err="1"/>
              <a:t>ibm</a:t>
            </a:r>
            <a:r>
              <a:rPr lang="en-US" dirty="0"/>
              <a:t>/granite-4-h-small → Fast, efficient for real-time risk assessment</a:t>
            </a:r>
          </a:p>
          <a:p>
            <a:endParaRPr lang="en-US" dirty="0"/>
          </a:p>
          <a:p>
            <a:r>
              <a:rPr lang="en-US" b="1" dirty="0"/>
              <a:t>4) Chat output -</a:t>
            </a:r>
            <a:r>
              <a:rPr lang="en-US" dirty="0"/>
              <a:t>Displays AI-generated risk levels (low/medium/high) and actionable reasoning. </a:t>
            </a:r>
          </a:p>
          <a:p>
            <a:endParaRPr lang="en-US" dirty="0"/>
          </a:p>
          <a:p>
            <a:r>
              <a:rPr lang="en-US" b="1" dirty="0"/>
              <a:t>5) </a:t>
            </a:r>
            <a:r>
              <a:rPr lang="en-US" b="1" dirty="0">
                <a:solidFill>
                  <a:srgbClr val="FF0000"/>
                </a:solidFill>
                <a:highlight>
                  <a:srgbClr val="FFFF00"/>
                </a:highlight>
              </a:rPr>
              <a:t>Ledger Component - </a:t>
            </a:r>
            <a:r>
              <a:rPr lang="en-US" dirty="0">
                <a:solidFill>
                  <a:srgbClr val="FF0000"/>
                </a:solidFill>
                <a:highlight>
                  <a:srgbClr val="FFFF00"/>
                </a:highlight>
              </a:rPr>
              <a:t>Stores and retrieves scam reports via hash-chained SQLite or Fabric</a:t>
            </a:r>
            <a:r>
              <a:rPr lang="en-US" dirty="0" smtClean="0">
                <a:solidFill>
                  <a:srgbClr val="FF0000"/>
                </a:solidFill>
                <a:highlight>
                  <a:srgbClr val="FFFF00"/>
                </a:highlight>
              </a:rPr>
              <a:t>.</a:t>
            </a:r>
            <a:endParaRPr lang="en-US" dirty="0">
              <a:solidFill>
                <a:srgbClr val="FF0000"/>
              </a:solidFill>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rmAutofit/>
          </a:bodyPr>
          <a:lstStyle/>
          <a:p>
            <a:pPr lvl="0"/>
            <a:r>
              <a:rPr lang="en-US" sz="1920" b="1">
                <a:solidFill>
                  <a:schemeClr val="dk1"/>
                </a:solidFill>
                <a:latin typeface="Calibri"/>
                <a:ea typeface="Calibri"/>
                <a:cs typeface="Calibri"/>
                <a:sym typeface="Calibri"/>
              </a:rPr>
              <a:t>Architecture blueprint</a:t>
            </a:r>
            <a:endParaRPr lang="en-US" sz="240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1625" y="936140"/>
            <a:ext cx="5921375" cy="553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normAutofit/>
          </a:bodyPr>
          <a:lstStyle/>
          <a:p>
            <a:r>
              <a:rPr lang="en-US" sz="2560" b="1"/>
              <a:t>Role of Agentic AI in the solution </a:t>
            </a:r>
            <a:endParaRPr lang="en-IN" sz="3200" b="1"/>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normAutofit/>
          </a:bodyPr>
          <a:lstStyle/>
          <a:p>
            <a:r>
              <a:rPr lang="en-US" b="1"/>
              <a:t>Role of Agentic AI in ScamShield</a:t>
            </a:r>
          </a:p>
          <a:p>
            <a:r>
              <a:rPr lang="en-US" b="1"/>
              <a:t>Agentic AI</a:t>
            </a:r>
            <a:r>
              <a:rPr lang="en-US"/>
              <a:t> enables ScamShield to function as an intelligent, autonomous system rather than a simple rule-based filter.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the nuance in text messages and URLs to distinguish legitimate requests from scams. It supports </a:t>
            </a:r>
            <a:r>
              <a:rPr lang="en-US" b="1"/>
              <a:t>real-time execution</a:t>
            </a:r>
            <a:r>
              <a:rPr lang="en-US"/>
              <a:t>, providing immediate risk feedback as users navigate their digital environment.</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security guard</a:t>
            </a:r>
            <a:r>
              <a:rPr lang="en-US"/>
              <a:t> that helps users maintain a secure digital lifestyle.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normAutofit/>
          </a:bodyPr>
          <a:lstStyle/>
          <a:p>
            <a:r>
              <a:rPr lang="en-US" sz="1920" b="1"/>
              <a:t>Novelty and Uniqueness</a:t>
            </a:r>
            <a:endParaRPr lang="en-IN" sz="2400" b="1"/>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normAutofit/>
          </a:bodyPr>
          <a:lstStyle/>
          <a:p>
            <a:r>
              <a:rPr lang="en-IN" sz="1440"/>
              <a:t>The proposed ScamShield stands out by combining </a:t>
            </a:r>
            <a:r>
              <a:rPr lang="en-IN" sz="1440" b="1"/>
              <a:t>Agentic AI, OCR, and Blockchain</a:t>
            </a:r>
            <a:r>
              <a:rPr lang="en-IN" sz="1440"/>
              <a:t> into a single intelligent system.</a:t>
            </a:r>
          </a:p>
          <a:p>
            <a:endParaRPr lang="en-IN" sz="1800"/>
          </a:p>
          <a:p>
            <a:r>
              <a:rPr lang="en-IN" sz="1440" b="1"/>
              <a:t>Multi-Agent Intelligence</a:t>
            </a:r>
            <a:r>
              <a:rPr lang="en-IN" sz="1440"/>
              <a:t> – Instead of a single chatbot, multiple specialized agents collaborate to deliver accurate and context-aware security guidance. </a:t>
            </a:r>
          </a:p>
          <a:p>
            <a:r>
              <a:rPr lang="en-IN" sz="1440" b="1"/>
              <a:t>Privacy-First OCR</a:t>
            </a:r>
            <a:r>
              <a:rPr lang="en-IN" sz="1440"/>
              <a:t> – Extracts text directly on-device without sending screenshots to the cloud. </a:t>
            </a:r>
          </a:p>
          <a:p>
            <a:r>
              <a:rPr lang="en-IN" sz="1440" b="1"/>
              <a:t>Real-Time Feedback Loop</a:t>
            </a:r>
            <a:r>
              <a:rPr lang="en-IN" sz="1440"/>
              <a:t> – Instantly highlights dangerous links and evaluates incoming messages. </a:t>
            </a:r>
          </a:p>
          <a:p>
            <a:r>
              <a:rPr lang="en-IN" sz="1440" b="1"/>
              <a:t>Multi-Platform</a:t>
            </a:r>
            <a:r>
              <a:rPr lang="en-IN" sz="1440"/>
              <a:t> – Supports Android overlays and Chrome extension auto-scanning. </a:t>
            </a:r>
            <a:r>
              <a:rPr lang="en-IN" sz="1440" err="1"/>
              <a:t>behavior</a:t>
            </a:r>
            <a:r>
              <a:rPr lang="en-IN" sz="1440"/>
              <a:t>. </a:t>
            </a:r>
          </a:p>
          <a:p>
            <a:r>
              <a:rPr lang="en-IN" sz="1440" b="1"/>
              <a:t>Proactive Security Focus</a:t>
            </a:r>
            <a:r>
              <a:rPr lang="en-IN" sz="1440"/>
              <a:t> – Goes beyond static blocklists to provide dynamic AI-based intent analysis. </a:t>
            </a:r>
          </a:p>
          <a:p>
            <a:r>
              <a:rPr lang="en-IN" sz="1440" b="1"/>
              <a:t>Scalable &amp; Enterprise-Ready</a:t>
            </a:r>
            <a:r>
              <a:rPr lang="en-IN" sz="1440"/>
              <a:t> – Built on FastAPI and IBM Code Engine for fast performance. </a:t>
            </a:r>
          </a:p>
          <a:p>
            <a:r>
              <a:rPr lang="en-IN" sz="1440" b="1"/>
              <a:t>Tamper-Evident Logs</a:t>
            </a:r>
            <a:r>
              <a:rPr lang="en-IN" sz="1440"/>
              <a:t> – Built on </a:t>
            </a:r>
            <a:r>
              <a:rPr lang="en-IN" sz="1440" b="1"/>
              <a:t>IBM watsonx.ai</a:t>
            </a:r>
            <a:r>
              <a:rPr lang="en-IN" sz="1440"/>
              <a:t> with </a:t>
            </a:r>
            <a:r>
              <a:rPr lang="en-IN" sz="1440" b="1"/>
              <a:t>IBM Granite models</a:t>
            </a:r>
            <a:r>
              <a:rPr lang="en-IN" sz="1440"/>
              <a:t>, ensuring reliability and governance. </a:t>
            </a:r>
          </a:p>
          <a:p>
            <a:endParaRPr lang="en-IN" sz="1800"/>
          </a:p>
          <a:p>
            <a:r>
              <a:rPr lang="en-IN" sz="1440"/>
              <a:t>This makes the solution a </a:t>
            </a:r>
            <a:r>
              <a:rPr lang="en-IN" sz="1440" b="1"/>
              <a:t>smart, adaptive, and proactive digital security guard</a:t>
            </a:r>
            <a:r>
              <a:rPr lang="en-IN" sz="1440"/>
              <a:t>, not just a static blocklist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rmAutofit/>
          </a:bodyPr>
          <a:lstStyle/>
          <a:p>
            <a:pPr marL="0" marR="0" lvl="0" indent="0" algn="l" rtl="0">
              <a:lnSpc>
                <a:spcPct val="157142"/>
              </a:lnSpc>
              <a:spcBef>
                <a:spcPts val="0"/>
              </a:spcBef>
              <a:spcAft>
                <a:spcPts val="0"/>
              </a:spcAft>
              <a:buClr>
                <a:srgbClr val="051D3A"/>
              </a:buClr>
              <a:buSzPts val="3500"/>
              <a:buFont typeface="Times New Roman"/>
              <a:buNone/>
            </a:pPr>
            <a:r>
              <a:rPr lang="en-US" sz="1920" b="1" dirty="0" err="1">
                <a:sym typeface="Times New Roman"/>
              </a:rPr>
              <a:t>Git</a:t>
            </a:r>
            <a:r>
              <a:rPr lang="en-US" sz="1920" b="1" dirty="0">
                <a:sym typeface="Times New Roman"/>
              </a:rPr>
              <a:t> Hub </a:t>
            </a:r>
            <a:r>
              <a:rPr lang="en-US" sz="1920" b="1" dirty="0" smtClean="0">
                <a:sym typeface="Times New Roman"/>
              </a:rPr>
              <a:t>Link:</a:t>
            </a:r>
          </a:p>
          <a:p>
            <a:pPr lvl="0">
              <a:lnSpc>
                <a:spcPct val="157142"/>
              </a:lnSpc>
              <a:buClr>
                <a:srgbClr val="051D3A"/>
              </a:buClr>
              <a:buSzPts val="3500"/>
            </a:pPr>
            <a:r>
              <a:rPr lang="en-IN" b="1" dirty="0">
                <a:sym typeface="Times New Roman"/>
              </a:rPr>
              <a:t>https://github.com/Asqi06/IBMhack</a:t>
            </a:r>
            <a:endParaRPr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rmAutofit/>
          </a:bodyPr>
          <a:lstStyle/>
          <a:p>
            <a:pPr marL="0" marR="0" lvl="0" indent="0" algn="l" rtl="0">
              <a:lnSpc>
                <a:spcPct val="157142"/>
              </a:lnSpc>
              <a:spcBef>
                <a:spcPts val="0"/>
              </a:spcBef>
              <a:spcAft>
                <a:spcPts val="0"/>
              </a:spcAft>
              <a:buClr>
                <a:srgbClr val="051D3A"/>
              </a:buClr>
              <a:buSzPts val="3500"/>
              <a:buFont typeface="Times New Roman"/>
              <a:buNone/>
            </a:pPr>
            <a:r>
              <a:rPr lang="en-US" sz="1920" b="1">
                <a:sym typeface="Times New Roman"/>
              </a:rPr>
              <a:t>Future Scope </a:t>
            </a:r>
            <a:endParaRPr sz="2400" b="1">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1" i="0" u="none" strike="noStrike" cap="none" dirty="0">
                <a:solidFill>
                  <a:srgbClr val="2B3541"/>
                </a:solidFill>
                <a:latin typeface="Times New Roman"/>
                <a:ea typeface="Times New Roman"/>
                <a:cs typeface="Times New Roman"/>
                <a:sym typeface="Times New Roman"/>
              </a:rPr>
              <a:t>1. </a:t>
            </a:r>
            <a:r>
              <a:rPr lang="en-US" sz="1480" b="1" i="0" u="none" strike="noStrike" cap="none" dirty="0" err="1">
                <a:solidFill>
                  <a:srgbClr val="2B3541"/>
                </a:solidFill>
                <a:latin typeface="Times New Roman"/>
                <a:ea typeface="Times New Roman"/>
                <a:cs typeface="Times New Roman"/>
                <a:sym typeface="Times New Roman"/>
              </a:rPr>
              <a:t>iOS</a:t>
            </a:r>
            <a:r>
              <a:rPr lang="en-US" sz="1480" b="1" i="0" u="none" strike="noStrike" cap="none" dirty="0">
                <a:solidFill>
                  <a:srgbClr val="2B3541"/>
                </a:solidFill>
                <a:latin typeface="Times New Roman"/>
                <a:ea typeface="Times New Roman"/>
                <a:cs typeface="Times New Roman"/>
                <a:sym typeface="Times New Roman"/>
              </a:rPr>
              <a:t> and Desktop Apps – </a:t>
            </a:r>
          </a:p>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dirty="0">
                <a:solidFill>
                  <a:srgbClr val="2B3541"/>
                </a:solidFill>
                <a:latin typeface="Times New Roman"/>
                <a:ea typeface="Times New Roman"/>
                <a:cs typeface="Times New Roman"/>
                <a:sym typeface="Times New Roman"/>
              </a:rPr>
              <a:t>Expanding beyond Android and Chrome to offer system-wide protection on all major platforms. This will enable </a:t>
            </a:r>
            <a:r>
              <a:rPr lang="en-US" sz="1480" b="0" i="0" u="none" strike="noStrike" cap="none" dirty="0" err="1">
                <a:solidFill>
                  <a:srgbClr val="2B3541"/>
                </a:solidFill>
                <a:latin typeface="Times New Roman"/>
                <a:ea typeface="Times New Roman"/>
                <a:cs typeface="Times New Roman"/>
                <a:sym typeface="Times New Roman"/>
              </a:rPr>
              <a:t>ScamShield</a:t>
            </a:r>
            <a:r>
              <a:rPr lang="en-US" sz="1480" b="0" i="0" u="none" strike="noStrike" cap="none" dirty="0">
                <a:solidFill>
                  <a:srgbClr val="2B3541"/>
                </a:solidFill>
                <a:latin typeface="Times New Roman"/>
                <a:ea typeface="Times New Roman"/>
                <a:cs typeface="Times New Roman"/>
                <a:sym typeface="Times New Roman"/>
              </a:rPr>
              <a:t> to provide a ubiquitous safety net across the entire digital ecosystem.</a:t>
            </a:r>
          </a:p>
          <a:p>
            <a:pPr marL="0" marR="0" lvl="0" indent="0" algn="l" rtl="0">
              <a:lnSpc>
                <a:spcPct val="162162"/>
              </a:lnSpc>
              <a:spcBef>
                <a:spcPts val="0"/>
              </a:spcBef>
              <a:spcAft>
                <a:spcPts val="0"/>
              </a:spcAft>
              <a:buClr>
                <a:srgbClr val="2B3541"/>
              </a:buClr>
              <a:buSzPts val="1850"/>
              <a:buFont typeface="Times New Roman"/>
              <a:buNone/>
            </a:pPr>
            <a:r>
              <a:rPr lang="en-US" sz="1480" b="1" dirty="0">
                <a:solidFill>
                  <a:srgbClr val="2B3541"/>
                </a:solidFill>
                <a:latin typeface="Times New Roman"/>
                <a:ea typeface="Times New Roman"/>
                <a:cs typeface="Times New Roman"/>
                <a:sym typeface="Times New Roman"/>
              </a:rPr>
              <a:t>2.</a:t>
            </a:r>
            <a:r>
              <a:rPr lang="en-US" sz="1480" b="1" i="0" u="none" strike="noStrike" cap="none" dirty="0">
                <a:solidFill>
                  <a:srgbClr val="2B3541"/>
                </a:solidFill>
                <a:latin typeface="Times New Roman"/>
                <a:ea typeface="Times New Roman"/>
                <a:cs typeface="Times New Roman"/>
                <a:sym typeface="Times New Roman"/>
              </a:rPr>
              <a:t>Multilingual Support </a:t>
            </a:r>
            <a:r>
              <a:rPr lang="en-US" sz="148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dirty="0">
                <a:solidFill>
                  <a:srgbClr val="2B3541"/>
                </a:solidFill>
                <a:latin typeface="Times New Roman"/>
                <a:ea typeface="Times New Roman"/>
                <a:cs typeface="Times New Roman"/>
                <a:sym typeface="Times New Roman"/>
              </a:rPr>
              <a:t>Enhancing the text agent to detect scams in regional languages and translate warnings for diverse user bases. Users can interact safely in their preferred language, making the solution more inclusive for diverse populations.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rmAutofit/>
          </a:bodyPr>
          <a:lstStyle/>
          <a:p>
            <a:pPr marL="0" marR="0" lvl="0" indent="0" algn="l" rtl="0">
              <a:lnSpc>
                <a:spcPct val="162162"/>
              </a:lnSpc>
              <a:spcBef>
                <a:spcPts val="0"/>
              </a:spcBef>
              <a:spcAft>
                <a:spcPts val="0"/>
              </a:spcAft>
              <a:buClr>
                <a:srgbClr val="2B3541"/>
              </a:buClr>
              <a:buSzPts val="1850"/>
              <a:buFont typeface="Times New Roman"/>
              <a:buNone/>
            </a:pPr>
            <a:r>
              <a:rPr lang="en-US" sz="148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r>
              <a:rPr lang="en-US" sz="1920" b="1"/>
              <a:t>Certificates Earned:</a:t>
            </a:r>
          </a:p>
          <a:p>
            <a:pPr algn="ctr"/>
            <a:endParaRPr lang="en-US"/>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r>
              <a:rPr lang="en-US" sz="2240" b="1"/>
              <a:t>Please  add your credly certificate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75754"/>
            <a:ext cx="6307137" cy="4753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r>
              <a:rPr lang="en-US" sz="1920" b="1" i="0" u="none" strike="noStrike" baseline="0">
                <a:solidFill>
                  <a:srgbClr val="000000"/>
                </a:solidFill>
                <a:latin typeface="Arial"/>
              </a:rPr>
              <a:t>Certificates Earned:</a:t>
            </a:r>
            <a:r>
              <a:rPr sz="192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r>
              <a:rPr lang="en-US" sz="1600" b="1"/>
              <a:t>Add your IBM BOB Certificate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449169"/>
            <a:ext cx="7559675" cy="4675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897</Words>
  <Application>Microsoft Office PowerPoint</Application>
  <PresentationFormat>Custom</PresentationFormat>
  <Paragraphs>114</Paragraphs>
  <Slides>14</Slides>
  <Notes>11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WELCOME</cp:lastModifiedBy>
  <cp:revision>17</cp:revision>
  <dcterms:created xsi:type="dcterms:W3CDTF">2025-07-08T05:06:56Z</dcterms:created>
  <dcterms:modified xsi:type="dcterms:W3CDTF">2026-08-24T18:53:22Z</dcterms:modified>
</cp:coreProperties>
</file>